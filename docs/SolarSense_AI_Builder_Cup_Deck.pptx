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EmanRohail/solarsense" TargetMode="External"/><Relationship Id="rId6" Type="http://schemas.openxmlformats.org/officeDocument/2006/relationships/hyperlink" Target="https://youtu.be/YOUR-VIDEO-ID" TargetMode="External"/><Relationship Id="rId7" Type="http://schemas.openxmlformats.org/officeDocument/2006/relationships/hyperlink" Target="https://solarsense-6280c.web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TechVerz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Syed Mohammed Bin Khalid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 b="1">
                <a:latin typeface="Google Sans Flex"/>
                <a:ea typeface="Google Sans Flex"/>
                <a:cs typeface="Google Sans Flex"/>
                <a:sym typeface="Google Sans Flex"/>
              </a:rPr>
              <a:t>Sustainability &amp; Social Impact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 descr="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017520"/>
            <a:ext cx="2651760" cy="697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7472" y="1024128"/>
            <a:ext cx="41605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39256F"/>
                </a:solidFill>
                <a:latin typeface="Arial"/>
              </a:rPr>
              <a:t>SolarSense is a talking AI solar technician.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4708A"/>
                </a:solidFill>
                <a:latin typeface="Arial"/>
              </a:rPr>
              <a:t>Rooftop solar is everywhere now: 282 GW of distributed solar was added worldwide in 2025, 41% of all new solar, on homes, shops, farms and factories. But when a system underperforms or shows a fault, its owner usually can't tell what's wrong, how much it's costing them or whether it's safe.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9256F"/>
                </a:solidFill>
                <a:latin typeface="Arial"/>
              </a:rPr>
              <a:t>Show it. Hear what's wrong.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4708A"/>
                </a:solidFill>
                <a:latin typeface="Arial"/>
              </a:rPr>
              <a:t>The owner picks their language, then photographs the panels, inverter screen or wiring (up to 4 photos). Gemini diagnoses it like a senior technician, boxes each problem, gives the evidence and the risk, and explains it out loud and in writing in English, Urdu, Hindi, Chinese, Indonesian or Arabic. A screenshot of the inverter app shows how much money the system is losing each month, in the owner's currency, and why.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453D6"/>
                </a:solidFill>
                <a:latin typeface="Arial"/>
              </a:rPr>
              <a:t>Track: </a:t>
            </a:r>
            <a:r>
              <a:rPr sz="1100" b="0">
                <a:solidFill>
                  <a:srgbClr val="39256F"/>
                </a:solidFill>
                <a:latin typeface="Arial"/>
              </a:rPr>
              <a:t>Sustainability &amp; Social Impact. </a:t>
            </a:r>
            <a:r>
              <a:rPr sz="1100" b="1">
                <a:solidFill>
                  <a:srgbClr val="7453D6"/>
                </a:solidFill>
                <a:latin typeface="Arial"/>
              </a:rPr>
              <a:t>For: </a:t>
            </a:r>
            <a:r>
              <a:rPr sz="1100" b="0">
                <a:solidFill>
                  <a:srgbClr val="39256F"/>
                </a:solidFill>
                <a:latin typeface="Arial"/>
              </a:rPr>
              <a:t>home and small-business solar owners, and the installers who serve them.</a:t>
            </a:r>
          </a:p>
        </p:txBody>
      </p:sp>
      <p:pic>
        <p:nvPicPr>
          <p:cNvPr id="73" name="Picture 72" descr="shot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15568"/>
            <a:ext cx="4114800" cy="2271537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47472" y="1069848"/>
            <a:ext cx="2694432" cy="310896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How is it different?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Inverter apps show numbers, not answers: no verdict, no cause, no comparison with the weather, mostly English.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AI monitoring platforms exist for solar companies and need data connections, not for an owner with a phone.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SolarSense needs only a phone camera and works in the owner's own language.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24784" y="1069848"/>
            <a:ext cx="2694432" cy="310896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How does it solve the problem?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Gemini inspects up to 4 photos together, finds dust, shade, cracks, hotspots, burnt cables and error codes, and marks them.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It speaks the diagnosis and shows it as text, with safe steps and a clear 'call a technician' when needed.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Real local sunshine turns an app screenshot into money lost per month.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02096" y="1069848"/>
            <a:ext cx="2694432" cy="3108960"/>
          </a:xfrm>
          <a:prstGeom prst="roundRect">
            <a:avLst>
              <a:gd name="adj" fmla="val 8000"/>
            </a:avLst>
          </a:prstGeom>
          <a:solidFill>
            <a:srgbClr val="E9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USP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Show it, hear it: a voice agent you can talk back to.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6 languages incl. Urdu and Arabic, chosen on the very first screen.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Problems boxed on your own photo.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Loss shown in your own currency.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Safety first: risky jobs always go to a technician.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A PDF report the technician can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365760" y="1097280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1024128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Language first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English, Urdu, Hindi, Chinese, Indonesian or Arabic; the whole app, answers, voice and captions follow it.</a:t>
            </a:r>
          </a:p>
        </p:txBody>
      </p:sp>
      <p:sp>
        <p:nvSpPr>
          <p:cNvPr id="90" name="Oval 89"/>
          <p:cNvSpPr/>
          <p:nvPr/>
        </p:nvSpPr>
        <p:spPr>
          <a:xfrm>
            <a:off x="4681728" y="1097280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47488" y="1024128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Expert inspection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Up to 4 photos from the camera or gallery; each problem gets location, evidence, cause, risk and confidence.</a:t>
            </a:r>
          </a:p>
        </p:txBody>
      </p:sp>
      <p:sp>
        <p:nvSpPr>
          <p:cNvPr id="92" name="Oval 91"/>
          <p:cNvSpPr/>
          <p:nvPr/>
        </p:nvSpPr>
        <p:spPr>
          <a:xfrm>
            <a:off x="365760" y="2066544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" y="1993392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Problems marked on the photo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Numbered boxes around each issue, with severity from minor to danger.</a:t>
            </a:r>
          </a:p>
        </p:txBody>
      </p:sp>
      <p:sp>
        <p:nvSpPr>
          <p:cNvPr id="94" name="Oval 93"/>
          <p:cNvSpPr/>
          <p:nvPr/>
        </p:nvSpPr>
        <p:spPr>
          <a:xfrm>
            <a:off x="4681728" y="2066544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47488" y="1993392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Voice plus text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Tap to hear the diagnosis while captions follow, with a written card for each issue.</a:t>
            </a:r>
          </a:p>
        </p:txBody>
      </p:sp>
      <p:sp>
        <p:nvSpPr>
          <p:cNvPr id="96" name="Oval 95"/>
          <p:cNvSpPr/>
          <p:nvPr/>
        </p:nvSpPr>
        <p:spPr>
          <a:xfrm>
            <a:off x="365760" y="3035808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2962656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Ask by voice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Ask a follow-up in any language; the answer looks at your photos and says what to check.</a:t>
            </a:r>
          </a:p>
        </p:txBody>
      </p:sp>
      <p:sp>
        <p:nvSpPr>
          <p:cNvPr id="98" name="Oval 97"/>
          <p:cNvSpPr/>
          <p:nvPr/>
        </p:nvSpPr>
        <p:spPr>
          <a:xfrm>
            <a:off x="4681728" y="3035808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47488" y="2962656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Performance check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Inverter app screenshots plus location: actual vs expected output from real local sunshine.</a:t>
            </a:r>
          </a:p>
        </p:txBody>
      </p:sp>
      <p:sp>
        <p:nvSpPr>
          <p:cNvPr id="100" name="Oval 99"/>
          <p:cNvSpPr/>
          <p:nvPr/>
        </p:nvSpPr>
        <p:spPr>
          <a:xfrm>
            <a:off x="365760" y="4005072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1520" y="3931920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Money lost and why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Loss per month in your currency, with likely causes, the evidence and how to check each.</a:t>
            </a:r>
          </a:p>
        </p:txBody>
      </p:sp>
      <p:sp>
        <p:nvSpPr>
          <p:cNvPr id="102" name="Oval 101"/>
          <p:cNvSpPr/>
          <p:nvPr/>
        </p:nvSpPr>
        <p:spPr>
          <a:xfrm>
            <a:off x="4681728" y="4005072"/>
            <a:ext cx="237744" cy="237744"/>
          </a:xfrm>
          <a:prstGeom prst="ellipse">
            <a:avLst/>
          </a:prstGeom>
          <a:solidFill>
            <a:srgbClr val="74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47488" y="3931920"/>
            <a:ext cx="3721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9256F"/>
                </a:solidFill>
                <a:latin typeface="Arial"/>
              </a:rPr>
              <a:t>Technician report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A PDF for the installer: findings, evidence, what to do; shared on WhatsApp in one tap.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115568"/>
            <a:ext cx="8449056" cy="2851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hot_m_la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16" y="1024128"/>
            <a:ext cx="1647870" cy="3566160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  <p:pic>
        <p:nvPicPr>
          <p:cNvPr id="105" name="Picture 104" descr="shot_m_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2456" y="1024128"/>
            <a:ext cx="1647870" cy="3566160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  <p:pic>
        <p:nvPicPr>
          <p:cNvPr id="106" name="Picture 105" descr="shot_m_res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2696" y="1024128"/>
            <a:ext cx="1647870" cy="3566160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6245352" y="1115568"/>
            <a:ext cx="2560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9256F"/>
                </a:solidFill>
                <a:latin typeface="Arial"/>
              </a:rPr>
              <a:t>Built for a phone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1. Pick a language. Everything after this uses it.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2. Take or upload up to 4 photos, or try a sample.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3. See the problem boxed, hear the explanation, read the captions and issue cards, then ask a follow-up by voice.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4708A"/>
                </a:solidFill>
                <a:latin typeface="Arial"/>
              </a:rPr>
              <a:t>Urdu and Arabic read right to left.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069848"/>
            <a:ext cx="8449056" cy="30627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47472" y="1024128"/>
          <a:ext cx="844905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03120"/>
                <a:gridCol w="5202936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How SolarSense uses it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AI: seeing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Gemini 2.5 Flash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Technician-grade diagnosis of up to 4 photos: boxes, severity, evidence, cause and risk as structured JSON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AI: reading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Gemini 2.5 Flash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Reads any inverter app screenshot (kWh, kW, fault codes) and finds the cause of low output from the pattern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AI: listening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Gemini 2.5 Flash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Understands typed or spoken follow-up questions in any language, and looks at the photos to answer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AI access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Firebase AI Logic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Calls Gemini securely from the app with no API keys in code; rotates to back-up models if one is busy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Cloud Firestore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Reports and follow-up Q&amp;A, protected by security rules; photos are never stored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Firebase Hosting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Mobile web app with camera, microphone, voice and PDF reports; 6 languages built 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Open-Meteo, OpenStreetMap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Real daily sunshine and city search for any location in the world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47472" y="1115568"/>
            <a:ext cx="26334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$0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to build and run the prototype: Firebase Spark plan, Gemini free tier, free weather and map data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63824" y="1115568"/>
            <a:ext cx="26334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&lt; 1 cent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Gemini cost per photo check on paid usage (Gemini 2.5 Flash list prices)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80176" y="1115568"/>
            <a:ext cx="26334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1 request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per check, however many photos; samples and maths need no AI at all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7472" y="2944368"/>
            <a:ext cx="844905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9256F"/>
                </a:solidFill>
                <a:latin typeface="Arial"/>
              </a:rPr>
              <a:t>Business model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39256F"/>
                </a:solidFill>
                <a:latin typeface="Arial"/>
              </a:rPr>
              <a:t>Free for owners. Installers and solar companies pay a small monthly fee to receive SolarSense reports from their customers before a visit, which saves wasted trips. Panel and inverter brands could offer it to customers as a support channel.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4708A"/>
                </a:solidFill>
                <a:latin typeface="Arial"/>
              </a:rPr>
              <a:t>Estimates use Gemini 2.5 Flash list prices ($0.30 per million input tokens, $2.50 per million output tokens) and the free tiers of Firebase Hosting and Firestore. Verify against current pricing.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024128"/>
            <a:ext cx="4160520" cy="2296776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  <p:pic>
        <p:nvPicPr>
          <p:cNvPr id="137" name="Picture 136" descr="shot_urd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529" y="1024128"/>
            <a:ext cx="3825765" cy="2377440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  <p:pic>
        <p:nvPicPr>
          <p:cNvPr id="138" name="Picture 137" descr="shot_per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9947" y="3538728"/>
            <a:ext cx="4867528" cy="1280160"/>
          </a:xfrm>
          <a:prstGeom prst="rect">
            <a:avLst/>
          </a:prstGeom>
          <a:ln w="12700">
            <a:solidFill>
              <a:srgbClr val="E4DDF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47472" y="1024128"/>
          <a:ext cx="844905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396849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How it's checked</a:t>
                      </a:r>
                    </a:p>
                  </a:txBody>
                  <a:tcPr marL="73152" marR="73152">
                    <a:solidFill>
                      <a:srgbClr val="39256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Automated tests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4 of 4 passing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pytest: languages, money maths, sample results, API flow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End-to-end browser tests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All passing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Playwright: 6 languages, samples, camera, photo tray, PDF report, performance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Languages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6, fully translated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Interface, diagnosis, answers, captions and PDF in each language; Urdu and Arabic right to left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AI requests per 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1 (samples: 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Up to 4 photos or screenshots analysed in a single request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Typical answer time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about 8 to 15 s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Fast model first, automatic switch to a back-up model if one is slow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Safety rule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Always enforced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Isolators, breakers and anything electrical on a damaged system go to a technician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9256F"/>
                          </a:solidFill>
                          <a:latin typeface="Arial"/>
                        </a:rPr>
                        <a:t>Free-tier resilience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6 models rotated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9256F"/>
                          </a:solidFill>
                          <a:latin typeface="Arial"/>
                        </a:rPr>
                        <a:t>If one model's daily allowance is used, the next one answers</a:t>
                      </a:r>
                    </a:p>
                  </a:txBody>
                  <a:tcPr marL="73152" marR="73152">
                    <a:solidFill>
                      <a:srgbClr val="F6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47472" y="1069848"/>
            <a:ext cx="2694432" cy="274320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Next 3 months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Accuracy test on real rooftop photos, reviewed by solar technicians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Live video mode with Gemini Live: point the camera and talk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Pilot with installers in two countries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24784" y="1069848"/>
            <a:ext cx="2694432" cy="274320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6 to 12 months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Connect inverter cloud accounts for automatic daily checks and alerts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Installer dashboard to receive reports and book visits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Thermal photo support for hotspots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102096" y="1069848"/>
            <a:ext cx="2694432" cy="274320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7453D6"/>
                </a:solidFill>
                <a:latin typeface="Arial"/>
              </a:rPr>
              <a:t>Beyond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Warranty claim packs for panel and inverter brands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Fleet view for schools, clinics and small factories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9256F"/>
                </a:solidFill>
                <a:latin typeface="Arial"/>
              </a:rPr>
              <a:t>More languages and Android/iOS apps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</a:t>
            </a: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https://github.com/EmanRohail/solarsense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</a:t>
            </a: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https://youtu.be/YOUR-VIDEO-ID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: </a:t>
            </a:r>
            <a:r>
              <a:rPr lang="en-GB" b="1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7"/>
              </a:rPr>
              <a:t>https://solarsense-6280c.web.app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47472" y="2377440"/>
            <a:ext cx="8449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The live app includes three sample photos and a sample inverter screenshot, so judges can try every feature without a solar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56616" y="69494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Google Sans Flex Medium"/>
              </a:rPr>
              <a:t>Impact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7472" y="1115568"/>
            <a:ext cx="25877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282 GW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of rooftop and other distributed solar added worldwide in 2025, 41% of all new solar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163824" y="1115568"/>
            <a:ext cx="25877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100M+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households expected to rely on rooftop solar by 2030, up from about 25 million (IEA)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980176" y="1115568"/>
            <a:ext cx="25877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39256F"/>
                </a:solidFill>
                <a:latin typeface="Arial"/>
              </a:rPr>
              <a:t>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08A"/>
                </a:solidFill>
                <a:latin typeface="Arial"/>
              </a:rPr>
              <a:t>languages, including Urdu and Arabic, so owners hear the answer in the language they think in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7472" y="2944368"/>
            <a:ext cx="844905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9256F"/>
                </a:solidFill>
                <a:latin typeface="Arial"/>
              </a:rPr>
              <a:t>Who benefits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39256F"/>
                </a:solidFill>
                <a:latin typeface="Arial"/>
              </a:rPr>
              <a:t>Owners: </a:t>
            </a:r>
            <a:r>
              <a:rPr sz="1150" b="0">
                <a:solidFill>
                  <a:srgbClr val="64708A"/>
                </a:solidFill>
                <a:latin typeface="Arial"/>
              </a:rPr>
              <a:t>protect a big investment, cut wasted power and avoid unsafe repairs.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39256F"/>
                </a:solidFill>
                <a:latin typeface="Arial"/>
              </a:rPr>
              <a:t>Installers: </a:t>
            </a:r>
            <a:r>
              <a:rPr sz="1150" b="0">
                <a:solidFill>
                  <a:srgbClr val="64708A"/>
                </a:solidFill>
                <a:latin typeface="Arial"/>
              </a:rPr>
              <a:t>arrive knowing the problem, with photos and error codes in hand.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39256F"/>
                </a:solidFill>
                <a:latin typeface="Arial"/>
              </a:rPr>
              <a:t>The planet: </a:t>
            </a:r>
            <a:r>
              <a:rPr sz="1150" b="0">
                <a:solidFill>
                  <a:srgbClr val="64708A"/>
                </a:solidFill>
                <a:latin typeface="Arial"/>
              </a:rPr>
              <a:t>every rooftop system kept healthy is more clean energy actually produced.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47472" y="4343400"/>
            <a:ext cx="8449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08A"/>
                </a:solidFill>
                <a:latin typeface="Arial"/>
              </a:rPr>
              <a:t>Sources: IEA PVPS via TaiyangNews (2026); IEA (2022).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